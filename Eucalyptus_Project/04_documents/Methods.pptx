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3"/>
  </p:notesMasterIdLst>
  <p:sldIdLst>
    <p:sldId id="257" r:id="rId2"/>
  </p:sldIdLst>
  <p:sldSz cx="12192000" cy="6858000"/>
  <p:notesSz cx="6858000" cy="9144000"/>
  <p:defaultText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665DF6-64B2-2D17-28D2-A54B6C724E4C}" name="Tiara Annabelle Zimmermann" initials="TZ" userId="S::tzimmermann@office365.ulisboa.pt::af5c8073-cfc1-454b-a00d-dd1ac6d2a11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CF6388-2ACF-0CA0-0DA0-DD64FBBE51A5}" v="3" dt="2026-04-27T14:57:42.3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79"/>
    <p:restoredTop sz="94646"/>
  </p:normalViewPr>
  <p:slideViewPr>
    <p:cSldViewPr snapToGrid="0">
      <p:cViewPr varScale="1">
        <p:scale>
          <a:sx n="108" d="100"/>
          <a:sy n="108" d="100"/>
        </p:scale>
        <p:origin x="39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microsoft.com/office/2018/10/relationships/authors" Target="author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nah Nathanson" userId="8186054a-7118-4566-882d-6df8541a530c" providerId="ADAL" clId="{2E3AF649-FB3F-5A50-880A-39DB2B259662}"/>
    <pc:docChg chg="delSld modSld">
      <pc:chgData name="Hannah Nathanson" userId="8186054a-7118-4566-882d-6df8541a530c" providerId="ADAL" clId="{2E3AF649-FB3F-5A50-880A-39DB2B259662}" dt="2026-04-23T12:01:53.275" v="8" actId="2696"/>
      <pc:docMkLst>
        <pc:docMk/>
      </pc:docMkLst>
    </pc:docChg>
  </pc:docChgLst>
  <pc:docChgLst>
    <pc:chgData name="Tiara Annabelle Zimmermann" userId="S::tzimmermann@office365.ulisboa.pt::af5c8073-cfc1-454b-a00d-dd1ac6d2a112" providerId="AD" clId="Web-{4BCF6388-2ACF-0CA0-0DA0-DD64FBBE51A5}"/>
    <pc:docChg chg="mod">
      <pc:chgData name="Tiara Annabelle Zimmermann" userId="S::tzimmermann@office365.ulisboa.pt::af5c8073-cfc1-454b-a00d-dd1ac6d2a112" providerId="AD" clId="Web-{4BCF6388-2ACF-0CA0-0DA0-DD64FBBE51A5}" dt="2026-04-27T10:38:44.858" v="0"/>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FCD316-1955-2C46-8D77-B0E4C717814E}" type="datetimeFigureOut">
              <a:rPr lang="en-PT" smtClean="0"/>
              <a:t>04/27/2026</a:t>
            </a:fld>
            <a:endParaRPr lang="en-P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657CEE-62D6-AA44-892E-5BA47C8AB6AA}" type="slidenum">
              <a:rPr lang="en-PT" smtClean="0"/>
              <a:t>‹#›</a:t>
            </a:fld>
            <a:endParaRPr lang="en-PT"/>
          </a:p>
        </p:txBody>
      </p:sp>
    </p:spTree>
    <p:extLst>
      <p:ext uri="{BB962C8B-B14F-4D97-AF65-F5344CB8AC3E}">
        <p14:creationId xmlns:p14="http://schemas.microsoft.com/office/powerpoint/2010/main" val="1762338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4/27/2026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09828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4/27/2026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88991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4/27/2026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308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4/27/2026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23319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4/27/2026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495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4/27/2026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31080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4/27/2026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84967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4/27/2026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55527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4/27/2026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3287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4/27/2026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08884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4/27/2026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7802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4/27/2026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98076123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614115E-A275-BA7F-6377-917BC5900F7D}"/>
              </a:ext>
            </a:extLst>
          </p:cNvPr>
          <p:cNvSpPr>
            <a:spLocks noGrp="1"/>
          </p:cNvSpPr>
          <p:nvPr>
            <p:ph type="title"/>
          </p:nvPr>
        </p:nvSpPr>
        <p:spPr>
          <a:xfrm>
            <a:off x="521208" y="978408"/>
            <a:ext cx="11155680" cy="1463040"/>
          </a:xfrm>
        </p:spPr>
        <p:txBody>
          <a:bodyPr>
            <a:normAutofit/>
          </a:bodyPr>
          <a:lstStyle/>
          <a:p>
            <a:r>
              <a:rPr lang="en-PT" dirty="0"/>
              <a:t>Methods</a:t>
            </a:r>
          </a:p>
        </p:txBody>
      </p:sp>
      <p:sp>
        <p:nvSpPr>
          <p:cNvPr id="3" name="Content Placeholder 2">
            <a:extLst>
              <a:ext uri="{FF2B5EF4-FFF2-40B4-BE49-F238E27FC236}">
                <a16:creationId xmlns:a16="http://schemas.microsoft.com/office/drawing/2014/main" id="{20996DE1-6000-FFDB-EB6C-628AF0EF14CB}"/>
              </a:ext>
            </a:extLst>
          </p:cNvPr>
          <p:cNvSpPr>
            <a:spLocks noGrp="1"/>
          </p:cNvSpPr>
          <p:nvPr>
            <p:ph idx="1"/>
          </p:nvPr>
        </p:nvSpPr>
        <p:spPr>
          <a:xfrm>
            <a:off x="521208" y="1724627"/>
            <a:ext cx="11149584" cy="4861367"/>
          </a:xfrm>
        </p:spPr>
        <p:txBody>
          <a:bodyPr>
            <a:normAutofit fontScale="85000" lnSpcReduction="10000"/>
          </a:bodyPr>
          <a:lstStyle/>
          <a:p>
            <a:pPr marL="342900" indent="-342900">
              <a:buFont typeface="+mj-lt"/>
              <a:buAutoNum type="arabicPeriod"/>
            </a:pPr>
            <a:r>
              <a:rPr lang="en-GB" dirty="0"/>
              <a:t>LiDAR point cloud data were processed in R using the </a:t>
            </a:r>
            <a:r>
              <a:rPr lang="en-GB" dirty="0" err="1"/>
              <a:t>lidR</a:t>
            </a:r>
            <a:r>
              <a:rPr lang="en-GB" dirty="0"/>
              <a:t> package, with processing parallelised across two CPU cores.</a:t>
            </a:r>
          </a:p>
          <a:p>
            <a:pPr marL="342900" indent="-342900">
              <a:buFont typeface="+mj-lt"/>
              <a:buAutoNum type="arabicPeriod"/>
            </a:pPr>
            <a:r>
              <a:rPr lang="en-GB" dirty="0"/>
              <a:t>The raw point cloud was inspected visually and duplicate points were removed. Noise filtering was applied using the Statistical Outlier Removal (SOR) algorithm (</a:t>
            </a:r>
            <a:r>
              <a:rPr lang="en-GB" i="1" dirty="0"/>
              <a:t>k</a:t>
            </a:r>
            <a:r>
              <a:rPr lang="en-GB" dirty="0"/>
              <a:t> = 10, </a:t>
            </a:r>
            <a:r>
              <a:rPr lang="en-GB" i="1" dirty="0"/>
              <a:t>m</a:t>
            </a:r>
            <a:r>
              <a:rPr lang="en-GB" dirty="0"/>
              <a:t> = 3), which was preferred over voxel-based approaches for its statistical robustness in forested environments.</a:t>
            </a:r>
          </a:p>
          <a:p>
            <a:pPr marL="342900" indent="-342900">
              <a:buFont typeface="+mj-lt"/>
              <a:buAutoNum type="arabicPeriod"/>
            </a:pPr>
            <a:r>
              <a:rPr lang="en-GB" dirty="0"/>
              <a:t>Ground classification was performed using the Multiscale Curvature Classification (MCC) algorithm (scale = 1.5, curvature threshold = 0.3) via a </a:t>
            </a:r>
            <a:r>
              <a:rPr lang="en-GB" dirty="0" err="1"/>
              <a:t>LAScatalog</a:t>
            </a:r>
            <a:r>
              <a:rPr lang="en-GB" dirty="0"/>
              <a:t> tiling workflow with a 5 m buffer. MCC was selected over the Progressive Morphological Filter (PMF) due to its superior performance in structurally complex, densely vegetated stands such as eucalyptus, despite its greater computational demand. The classified point cloud was clipped to the stand boundaries using a shapefile.</a:t>
            </a:r>
          </a:p>
          <a:p>
            <a:pPr marL="342900" indent="-342900">
              <a:buFont typeface="+mj-lt"/>
              <a:buAutoNum type="arabicPeriod"/>
            </a:pPr>
            <a:r>
              <a:rPr lang="en-GB" dirty="0"/>
              <a:t>A Digital Terrain Model (DTM) was generated at 2 m resolution using Kriging interpolation (</a:t>
            </a:r>
            <a:r>
              <a:rPr lang="en-GB" i="1" dirty="0"/>
              <a:t>k</a:t>
            </a:r>
            <a:r>
              <a:rPr lang="en-GB" dirty="0"/>
              <a:t> = 40 neighbours). Kriging was preferred over TIN — which introduces terrain smoothing — and IDW — which weights by distance alone without modelling spatial structure — as it adaptively models terrain variability, making it more appropriate for research applications. The DTM was masked to the study area extent.</a:t>
            </a:r>
          </a:p>
          <a:p>
            <a:pPr marL="342900" indent="-342900">
              <a:buFont typeface="+mj-lt"/>
              <a:buAutoNum type="arabicPeriod"/>
            </a:pPr>
            <a:r>
              <a:rPr lang="en-GB" dirty="0"/>
              <a:t>The point cloud was height-normalised using TIN interpolation constrained to the Kriging DTM, ensuring consistency with the terrain surface, and points with negative normalised heights were removed.</a:t>
            </a:r>
          </a:p>
          <a:p>
            <a:pPr marL="342900" indent="-342900">
              <a:buFont typeface="+mj-lt"/>
              <a:buAutoNum type="arabicPeriod"/>
            </a:pPr>
            <a:r>
              <a:rPr lang="en-GB" dirty="0"/>
              <a:t>The Canopy Height Model (CHM) was produced at 1 m resolution using the pit-free algorithm (</a:t>
            </a:r>
            <a:r>
              <a:rPr lang="en-GB" dirty="0" err="1"/>
              <a:t>Khosravipour</a:t>
            </a:r>
            <a:r>
              <a:rPr lang="en-GB" dirty="0"/>
              <a:t> et al., 2014) with height thresholds at 0, 2, 5, 10, 15, 20, 30, and 40 m. Post-processing applied NA-filling and mean smoothing via a 3×3 focal window. All three CHM outputs (base, filled, and smoothed) were exported as </a:t>
            </a:r>
            <a:r>
              <a:rPr lang="en-GB" dirty="0" err="1"/>
              <a:t>GeoTIFFs</a:t>
            </a:r>
            <a:r>
              <a:rPr lang="en-GB" dirty="0"/>
              <a:t> clipped to the stand boundaries.</a:t>
            </a:r>
          </a:p>
        </p:txBody>
      </p:sp>
      <p:sp>
        <p:nvSpPr>
          <p:cNvPr id="10" name="Freeform: Shape 9">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70825811"/>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371</TotalTime>
  <Words>333</Words>
  <Application>Microsoft Office PowerPoint</Application>
  <PresentationFormat>Widescreen</PresentationFormat>
  <Paragraphs>7</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GestaltVTI</vt:lpstr>
      <vt:lpstr>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Hannah Nathanson</dc:creator>
  <cp:lastModifiedBy>Hannah Nathanson</cp:lastModifiedBy>
  <cp:revision>3</cp:revision>
  <dcterms:created xsi:type="dcterms:W3CDTF">2026-04-22T17:06:41Z</dcterms:created>
  <dcterms:modified xsi:type="dcterms:W3CDTF">2026-04-27T14:57:42Z</dcterms:modified>
</cp:coreProperties>
</file>